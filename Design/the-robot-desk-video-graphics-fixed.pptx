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c7db53ba33446b" /><Relationship Type="http://schemas.openxmlformats.org/officeDocument/2006/relationships/extended-properties" Target="/docProps/app.xml" Id="Re2345413e41d4ccd" /><Relationship Type="http://schemas.openxmlformats.org/officeDocument/2006/relationships/officeDocument" Target="/ppt/presentation.xml" Id="Re51bd7404c9242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6a0bae6e0a43ad"/>
  </p:sldMasterIdLst>
  <p:notesMasterIdLst>
    <p:notesMasterId xmlns:r="http://schemas.openxmlformats.org/officeDocument/2006/relationships" r:id="R53ff3d37dfa74b11"/>
  </p:notesMasterIdLst>
  <p:sldIdLst>
    <p:sldId xmlns:r="http://schemas.openxmlformats.org/officeDocument/2006/relationships" id="256" r:id="Ra9c0e0e8bf244288"/>
    <p:sldId xmlns:r="http://schemas.openxmlformats.org/officeDocument/2006/relationships" id="257" r:id="R9bf7bf024c6d4d2e"/>
    <p:sldId xmlns:r="http://schemas.openxmlformats.org/officeDocument/2006/relationships" id="258" r:id="Rf8e7bc2359d7411b"/>
    <p:sldId xmlns:r="http://schemas.openxmlformats.org/officeDocument/2006/relationships" id="259" r:id="Rdc07cba69b404d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2d359312c64bb4" /><Relationship Type="http://schemas.openxmlformats.org/officeDocument/2006/relationships/slideMaster" Target="/ppt/slideMasters/slideMaster1.xml" Id="R646a0bae6e0a43ad" /><Relationship Type="http://schemas.openxmlformats.org/officeDocument/2006/relationships/notesMaster" Target="/ppt/notesMasters/notesMaster1.xml" Id="R53ff3d37dfa74b11" /><Relationship Type="http://schemas.openxmlformats.org/officeDocument/2006/relationships/presProps" Target="/ppt/presProps.xml" Id="Rea09324b16414867" /><Relationship Type="http://schemas.openxmlformats.org/officeDocument/2006/relationships/tableStyles" Target="/ppt/tableStyles.xml" Id="R64302d43b9364981" /><Relationship Type="http://schemas.openxmlformats.org/officeDocument/2006/relationships/slide" Target="/ppt/slides/slide1.xml" Id="Ra9c0e0e8bf244288" /><Relationship Type="http://schemas.openxmlformats.org/officeDocument/2006/relationships/slide" Target="/ppt/slides/slide2.xml" Id="R9bf7bf024c6d4d2e" /><Relationship Type="http://schemas.openxmlformats.org/officeDocument/2006/relationships/slide" Target="/ppt/slides/slide3.xml" Id="Rf8e7bc2359d7411b" /><Relationship Type="http://schemas.openxmlformats.org/officeDocument/2006/relationships/slide" Target="/ppt/slides/slide4.xml" Id="Rdc07cba69b404d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73fe609cb545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989f4bc6034bde" /><Relationship Type="http://schemas.openxmlformats.org/officeDocument/2006/relationships/notesMaster" Target="/ppt/notesMasters/notesMaster1.xml" Id="R58cfdc79cf2d42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a7140d9c8848e2" /><Relationship Type="http://schemas.openxmlformats.org/officeDocument/2006/relationships/notesMaster" Target="/ppt/notesMasters/notesMaster1.xml" Id="R259a747b27c34d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c112cfd1bf4554" /><Relationship Type="http://schemas.openxmlformats.org/officeDocument/2006/relationships/notesMaster" Target="/ppt/notesMasters/notesMaster1.xml" Id="R0acff6f0343548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631c40d4ea4b19" /><Relationship Type="http://schemas.openxmlformats.org/officeDocument/2006/relationships/notesMaster" Target="/ppt/notesMasters/notesMaster1.xml" Id="Rea21900107ad46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067c8046d44d6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fa6f9c20ad4054" /><Relationship Type="http://schemas.openxmlformats.org/officeDocument/2006/relationships/slideLayout" Target="/ppt/slideLayouts/slideLayout1.xml" Id="R14deceaef4364c5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deceaef4364c5c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3b853b0ea4e3d" /><Relationship Type="http://schemas.openxmlformats.org/officeDocument/2006/relationships/image" Target="/ppt/media/image.jpeg" Id="Rc0530cd40c28460b" /><Relationship Type="http://schemas.openxmlformats.org/officeDocument/2006/relationships/notesSlide" Target="/ppt/notesSlides/notesSlide1.xml" Id="R36cd233d408141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4c0b8a8354d29" /><Relationship Type="http://schemas.openxmlformats.org/officeDocument/2006/relationships/image" Target="/ppt/media/image2.jpeg" Id="R6378c10b92924149" /><Relationship Type="http://schemas.openxmlformats.org/officeDocument/2006/relationships/notesSlide" Target="/ppt/notesSlides/notesSlide2.xml" Id="R53eef278f1a84c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be03e76d842d1" /><Relationship Type="http://schemas.openxmlformats.org/officeDocument/2006/relationships/image" Target="/ppt/media/image3.jpeg" Id="R630598430df0474b" /><Relationship Type="http://schemas.openxmlformats.org/officeDocument/2006/relationships/notesSlide" Target="/ppt/notesSlides/notesSlide3.xml" Id="Rbd8101abda6a4e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0d4f7f14041fc" /><Relationship Type="http://schemas.openxmlformats.org/officeDocument/2006/relationships/image" Target="/ppt/media/image4.jpeg" Id="R76a14c8881204f15" /><Relationship Type="http://schemas.openxmlformats.org/officeDocument/2006/relationships/notesSlide" Target="/ppt/notesSlides/notesSlide4.xml" Id="R1109f3fb22ca428c" 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3" name=""/>
          <p:cNvPicPr>
            <a:picLocks noChangeAspect="1"/>
          </p:cNvPicPr>
          <p:nvPr/>
        </p:nvPicPr>
        <p:blipFill>
          <a:blip r:embed="Rc0530cd40c28460b"/>
          <a:srcRect l="0" t="0" r="0" b="0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ns3:creationId id="{7FFDDAD0-0812-4E75-A040-2E79A29E57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2703C"/>
          </a:solidFill>
        </p:spPr>
      </p:sp>
      <p:sp>
        <p:nvSpPr>
          <p:cNvPr id="3" name="Text 1">
            <a:extLst>
              <a:ext uri="{FF2B5EF4-FFF2-40B4-BE49-F238E27FC236}">
                <ns3:creationId id="{5FD2E81A-FCBF-48F5-8D48-19F9F7332EC9}"/>
              </a:ext>
            </a:extLst>
          </p:cNvPr>
          <p:cNvSpPr>
            <a:spLocks noGrp="1"/>
          </p:cNvSpPr>
          <p:nvPr/>
        </p:nvSpPr>
        <p:spPr>
          <a:xfrm>
            <a:off x="1047750" y="1583234"/>
            <a:ext cx="11106150" cy="2952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500" spc="210">
                <a:solidFill>
                  <a:srgbClr val="F2703C"/>
                </a:solidFill>
                <a:latin typeface="IBM Plex Mono"/>
                <a:ea typeface="IBM Plex Mono"/>
                <a:cs typeface="IBM Plex Mono"/>
              </a:rPr>
              <a:t>VIDEO #001 · REVIEW</a:t>
            </a:r>
          </a:p>
        </p:txBody>
      </p:sp>
      <p:sp>
        <p:nvSpPr>
          <p:cNvPr id="4" name="Text 2">
            <a:extLst>
              <a:ext uri="{FF2B5EF4-FFF2-40B4-BE49-F238E27FC236}">
                <ns3:creationId id="{22E1B9BA-08DF-434A-A2FA-578AD6F81BD5}"/>
              </a:ext>
            </a:extLst>
          </p:cNvPr>
          <p:cNvSpPr>
            <a:spLocks noGrp="1"/>
          </p:cNvSpPr>
          <p:nvPr/>
        </p:nvSpPr>
        <p:spPr>
          <a:xfrm>
            <a:off x="1047750" y="2107109"/>
            <a:ext cx="9320213" cy="2558058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sz="6300" b="1" spc="-189">
                <a:solidFill>
                  <a:srgbClr val="F0F0EE"/>
                </a:solidFill>
                <a:latin typeface="Instrument Sans"/>
                <a:ea typeface="Instrument Sans"/>
                <a:cs typeface="Instrument Sans"/>
              </a:rPr>
              <a:t>The $499/month home robot: what they don't tell you</a:t>
            </a:r>
          </a:p>
        </p:txBody>
      </p:sp>
      <p:sp>
        <p:nvSpPr>
          <p:cNvPr id="5" name="Text 3">
            <a:extLst>
              <a:ext uri="{FF2B5EF4-FFF2-40B4-BE49-F238E27FC236}">
                <ns3:creationId id="{08792947-CDF7-46F1-92B3-601DB2CF9D24}"/>
              </a:ext>
            </a:extLst>
          </p:cNvPr>
          <p:cNvSpPr>
            <a:spLocks noGrp="1"/>
          </p:cNvSpPr>
          <p:nvPr/>
        </p:nvSpPr>
        <p:spPr>
          <a:xfrm>
            <a:off x="1047750" y="4874716"/>
            <a:ext cx="11106150" cy="4381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sz="2250">
                <a:solidFill>
                  <a:srgbClr val="96989E"/>
                </a:solidFill>
                <a:latin typeface="Instrument Sans"/>
                <a:ea typeface="Instrument Sans"/>
                <a:cs typeface="Instrument Sans"/>
              </a:rPr>
              <a:t>I read the spec sheets, the demos, and the fine print.</a:t>
            </a:r>
          </a:p>
        </p:txBody>
      </p:sp>
      <p:sp>
        <p:nvSpPr>
          <p:cNvPr id="6" name="Text 4">
            <a:extLst>
              <a:ext uri="{FF2B5EF4-FFF2-40B4-BE49-F238E27FC236}">
                <ns3:creationId id="{6108053B-4EB4-490F-9DC5-9DD29263271A}"/>
              </a:ext>
            </a:extLst>
          </p:cNvPr>
          <p:cNvSpPr>
            <a:spLocks noGrp="1"/>
          </p:cNvSpPr>
          <p:nvPr/>
        </p:nvSpPr>
        <p:spPr>
          <a:xfrm>
            <a:off x="1047750" y="6124575"/>
            <a:ext cx="1806059" cy="3143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 b="1" spc="-36">
                <a:solidFill>
                  <a:srgbClr val="F2703C"/>
                </a:solidFill>
                <a:latin typeface="Instrument Sans"/>
                <a:ea typeface="Instrument Sans"/>
                <a:cs typeface="Instrument Sans"/>
              </a:rPr>
              <a:t>The </a:t>
            </a:r>
            <a:r>
              <a:rPr sz="1800" b="1" spc="-36">
                <a:solidFill>
                  <a:srgbClr val="F0F0EE"/>
                </a:solidFill>
                <a:latin typeface="Instrument Sans"/>
                <a:ea typeface="Instrument Sans"/>
                <a:cs typeface="Instrument Sans"/>
              </a:rPr>
              <a:t>Robot Desk</a:t>
            </a:r>
          </a:p>
        </p:txBody>
      </p:sp>
    </p:spTree>
    <p:extLst>
      <p:ext uri="{BB962C8B-B14F-4D97-AF65-F5344CB8AC3E}">
        <p14:creationId val="470731129"/>
      </p:ext>
    </p:extLst>
  </p:cSld>
</p:sld>
</file>

<file path=ppt/slides/slide2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33" name=""/>
          <p:cNvPicPr>
            <a:picLocks noChangeAspect="1"/>
          </p:cNvPicPr>
          <p:nvPr/>
        </p:nvPicPr>
        <p:blipFill>
          <a:blip r:embed="R6378c10b92924149"/>
          <a:srcRect l="0" t="0" r="0" b="0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ns3:creationId id="{2EDC3D14-A0BA-42FC-892B-0519AC5E0F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2703C"/>
          </a:solidFill>
        </p:spPr>
      </p:sp>
      <p:sp>
        <p:nvSpPr>
          <p:cNvPr id="3" name="Text 1">
            <a:extLst>
              <a:ext uri="{FF2B5EF4-FFF2-40B4-BE49-F238E27FC236}">
                <ns3:creationId id="{86CDA45C-3F44-4F35-8E28-319C902076CC}"/>
              </a:ext>
            </a:extLst>
          </p:cNvPr>
          <p:cNvSpPr>
            <a:spLocks noGrp="1"/>
          </p:cNvSpPr>
          <p:nvPr/>
        </p:nvSpPr>
        <p:spPr>
          <a:xfrm>
            <a:off x="333375" y="704850"/>
            <a:ext cx="11525250" cy="4762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3450" b="1" spc="-69">
                <a:solidFill>
                  <a:srgbClr val="F2703C"/>
                </a:solidFill>
                <a:latin typeface="Instrument Sans"/>
                <a:ea typeface="Instrument Sans"/>
                <a:cs typeface="Instrument Sans"/>
              </a:rPr>
              <a:t>THE SUBSCRIPTION MATH</a:t>
            </a:r>
          </a:p>
        </p:txBody>
      </p:sp>
      <p:sp>
        <p:nvSpPr>
          <p:cNvPr id="4" name="Shape 2">
            <a:extLst>
              <a:ext uri="{FF2B5EF4-FFF2-40B4-BE49-F238E27FC236}">
                <ns3:creationId id="{3A7E77C4-A2AB-4988-8F74-A0B79AF2A51B}"/>
              </a:ext>
            </a:extLst>
          </p:cNvPr>
          <p:cNvSpPr>
            <a:spLocks noGrp="1"/>
          </p:cNvSpPr>
          <p:nvPr/>
        </p:nvSpPr>
        <p:spPr>
          <a:xfrm>
            <a:off x="1003995" y="1943100"/>
            <a:ext cx="2667000" cy="1885950"/>
          </a:xfrm>
          <a:prstGeom prst="roundRect">
            <a:avLst>
              <a:gd name="adj" fmla="val 10101"/>
            </a:avLst>
          </a:prstGeom>
          <a:solidFill>
            <a:srgbClr val="1C1F24"/>
          </a:solidFill>
        </p:spPr>
      </p:sp>
      <p:sp>
        <p:nvSpPr>
          <p:cNvPr id="5" name="Text 3">
            <a:extLst>
              <a:ext uri="{FF2B5EF4-FFF2-40B4-BE49-F238E27FC236}">
                <ns3:creationId id="{B83EA0DC-E474-4E75-BF97-6551C5252503}"/>
              </a:ext>
            </a:extLst>
          </p:cNvPr>
          <p:cNvSpPr>
            <a:spLocks noGrp="1"/>
          </p:cNvSpPr>
          <p:nvPr/>
        </p:nvSpPr>
        <p:spPr>
          <a:xfrm>
            <a:off x="870645" y="2362200"/>
            <a:ext cx="2933700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5400" b="1" spc="-108">
                <a:solidFill>
                  <a:srgbClr val="F0F0EE"/>
                </a:solidFill>
                <a:latin typeface="Instrument Sans"/>
                <a:ea typeface="Instrument Sans"/>
                <a:cs typeface="Instrument Sans"/>
              </a:rPr>
              <a:t>$499</a:t>
            </a:r>
          </a:p>
        </p:txBody>
      </p:sp>
      <p:sp>
        <p:nvSpPr>
          <p:cNvPr id="6" name="Text 4">
            <a:extLst>
              <a:ext uri="{FF2B5EF4-FFF2-40B4-BE49-F238E27FC236}">
                <ns3:creationId id="{D129071E-DFFC-47EB-8871-29D0FF2DEAAD}"/>
              </a:ext>
            </a:extLst>
          </p:cNvPr>
          <p:cNvSpPr>
            <a:spLocks noGrp="1"/>
          </p:cNvSpPr>
          <p:nvPr/>
        </p:nvSpPr>
        <p:spPr>
          <a:xfrm>
            <a:off x="870645" y="3162300"/>
            <a:ext cx="2933700" cy="342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sz="1950">
                <a:solidFill>
                  <a:srgbClr val="96989E"/>
                </a:solidFill>
                <a:latin typeface="Instrument Sans"/>
                <a:ea typeface="Instrument Sans"/>
                <a:cs typeface="Instrument Sans"/>
              </a:rPr>
              <a:t>per month</a:t>
            </a:r>
          </a:p>
        </p:txBody>
      </p:sp>
      <p:sp>
        <p:nvSpPr>
          <p:cNvPr id="7" name="Text 5">
            <a:extLst>
              <a:ext uri="{FF2B5EF4-FFF2-40B4-BE49-F238E27FC236}">
                <ns3:creationId id="{2B46E935-79A2-4680-B5A8-7885246C7BF8}"/>
              </a:ext>
            </a:extLst>
          </p:cNvPr>
          <p:cNvSpPr>
            <a:spLocks noGrp="1"/>
          </p:cNvSpPr>
          <p:nvPr/>
        </p:nvSpPr>
        <p:spPr>
          <a:xfrm>
            <a:off x="3994845" y="2543175"/>
            <a:ext cx="520005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050" b="1">
                <a:solidFill>
                  <a:srgbClr val="F2703C"/>
                </a:solidFill>
                <a:latin typeface="Instrument Sans"/>
                <a:ea typeface="Instrument Sans"/>
                <a:cs typeface="Instrument Sans"/>
              </a:rPr>
              <a:t>→</a:t>
            </a:r>
          </a:p>
        </p:txBody>
      </p:sp>
      <p:sp>
        <p:nvSpPr>
          <p:cNvPr id="8" name="Shape 6">
            <a:extLst>
              <a:ext uri="{FF2B5EF4-FFF2-40B4-BE49-F238E27FC236}">
                <ns3:creationId id="{B6E395FA-6707-4838-9C3F-8CB38A66226D}"/>
              </a:ext>
            </a:extLst>
          </p:cNvPr>
          <p:cNvSpPr>
            <a:spLocks noGrp="1"/>
          </p:cNvSpPr>
          <p:nvPr/>
        </p:nvSpPr>
        <p:spPr>
          <a:xfrm>
            <a:off x="4762500" y="1943100"/>
            <a:ext cx="2667000" cy="1885950"/>
          </a:xfrm>
          <a:prstGeom prst="roundRect">
            <a:avLst>
              <a:gd name="adj" fmla="val 10101"/>
            </a:avLst>
          </a:prstGeom>
          <a:solidFill>
            <a:srgbClr val="1C1F24"/>
          </a:solidFill>
        </p:spPr>
      </p:sp>
      <p:sp>
        <p:nvSpPr>
          <p:cNvPr id="9" name="Text 7">
            <a:extLst>
              <a:ext uri="{FF2B5EF4-FFF2-40B4-BE49-F238E27FC236}">
                <ns3:creationId id="{E0F7D7AF-EC2A-46A8-BF55-16CFA2B0C0F2}"/>
              </a:ext>
            </a:extLst>
          </p:cNvPr>
          <p:cNvSpPr>
            <a:spLocks noGrp="1"/>
          </p:cNvSpPr>
          <p:nvPr/>
        </p:nvSpPr>
        <p:spPr>
          <a:xfrm>
            <a:off x="4629150" y="2362200"/>
            <a:ext cx="2933700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5400" b="1" spc="-108">
                <a:solidFill>
                  <a:srgbClr val="F0F0EE"/>
                </a:solidFill>
                <a:latin typeface="Instrument Sans"/>
                <a:ea typeface="Instrument Sans"/>
                <a:cs typeface="Instrument Sans"/>
              </a:rPr>
              <a:t>$6,000</a:t>
            </a:r>
          </a:p>
        </p:txBody>
      </p:sp>
      <p:sp>
        <p:nvSpPr>
          <p:cNvPr id="10" name="Text 8">
            <a:extLst>
              <a:ext uri="{FF2B5EF4-FFF2-40B4-BE49-F238E27FC236}">
                <ns3:creationId id="{ED63F8EA-53EA-4443-B33B-7B49694C63D9}"/>
              </a:ext>
            </a:extLst>
          </p:cNvPr>
          <p:cNvSpPr>
            <a:spLocks noGrp="1"/>
          </p:cNvSpPr>
          <p:nvPr/>
        </p:nvSpPr>
        <p:spPr>
          <a:xfrm>
            <a:off x="4629150" y="3162300"/>
            <a:ext cx="2933700" cy="342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sz="1950">
                <a:solidFill>
                  <a:srgbClr val="96989E"/>
                </a:solidFill>
                <a:latin typeface="Instrument Sans"/>
                <a:ea typeface="Instrument Sans"/>
                <a:cs typeface="Instrument Sans"/>
              </a:rPr>
              <a:t>per year</a:t>
            </a:r>
          </a:p>
        </p:txBody>
      </p:sp>
      <p:sp>
        <p:nvSpPr>
          <p:cNvPr id="11" name="Text 9">
            <a:extLst>
              <a:ext uri="{FF2B5EF4-FFF2-40B4-BE49-F238E27FC236}">
                <ns3:creationId id="{FA2C1A5B-39C2-4919-96C4-E867ECD8371F}"/>
              </a:ext>
            </a:extLst>
          </p:cNvPr>
          <p:cNvSpPr>
            <a:spLocks noGrp="1"/>
          </p:cNvSpPr>
          <p:nvPr/>
        </p:nvSpPr>
        <p:spPr>
          <a:xfrm>
            <a:off x="7753350" y="2543175"/>
            <a:ext cx="520005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4050" b="1">
                <a:solidFill>
                  <a:srgbClr val="F2703C"/>
                </a:solidFill>
                <a:latin typeface="Instrument Sans"/>
                <a:ea typeface="Instrument Sans"/>
                <a:cs typeface="Instrument Sans"/>
              </a:rPr>
              <a:t>→</a:t>
            </a:r>
          </a:p>
        </p:txBody>
      </p:sp>
      <p:sp>
        <p:nvSpPr>
          <p:cNvPr id="12" name="Shape 10">
            <a:extLst>
              <a:ext uri="{FF2B5EF4-FFF2-40B4-BE49-F238E27FC236}">
                <ns3:creationId id="{0A74817A-5AD4-4ABE-A61D-E7FD19323946}"/>
              </a:ext>
            </a:extLst>
          </p:cNvPr>
          <p:cNvSpPr>
            <a:spLocks noGrp="1"/>
          </p:cNvSpPr>
          <p:nvPr/>
        </p:nvSpPr>
        <p:spPr>
          <a:xfrm>
            <a:off x="8521005" y="1943100"/>
            <a:ext cx="2667000" cy="1885950"/>
          </a:xfrm>
          <a:prstGeom prst="roundRect">
            <a:avLst>
              <a:gd name="adj" fmla="val 10101"/>
            </a:avLst>
          </a:prstGeom>
          <a:solidFill>
            <a:srgbClr val="1C1F24"/>
          </a:solidFill>
        </p:spPr>
      </p:sp>
      <p:sp>
        <p:nvSpPr>
          <p:cNvPr id="13" name="Text 11">
            <a:extLst>
              <a:ext uri="{FF2B5EF4-FFF2-40B4-BE49-F238E27FC236}">
                <ns3:creationId id="{194D4D4D-3CFE-4C14-913F-0B5B6728CAE6}"/>
              </a:ext>
            </a:extLst>
          </p:cNvPr>
          <p:cNvSpPr>
            <a:spLocks noGrp="1"/>
          </p:cNvSpPr>
          <p:nvPr/>
        </p:nvSpPr>
        <p:spPr>
          <a:xfrm>
            <a:off x="8387655" y="2362200"/>
            <a:ext cx="2933700" cy="723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5400" b="1" spc="-108">
                <a:solidFill>
                  <a:srgbClr val="F0F0EE"/>
                </a:solidFill>
                <a:latin typeface="Instrument Sans"/>
                <a:ea typeface="Instrument Sans"/>
                <a:cs typeface="Instrument Sans"/>
              </a:rPr>
              <a:t>$42,000</a:t>
            </a:r>
          </a:p>
        </p:txBody>
      </p:sp>
      <p:sp>
        <p:nvSpPr>
          <p:cNvPr id="14" name="Text 12">
            <a:extLst>
              <a:ext uri="{FF2B5EF4-FFF2-40B4-BE49-F238E27FC236}">
                <ns3:creationId id="{7CAC411A-BF25-409F-9A22-2B1C4E39D0C6}"/>
              </a:ext>
            </a:extLst>
          </p:cNvPr>
          <p:cNvSpPr>
            <a:spLocks noGrp="1"/>
          </p:cNvSpPr>
          <p:nvPr/>
        </p:nvSpPr>
        <p:spPr>
          <a:xfrm>
            <a:off x="8387655" y="3162300"/>
            <a:ext cx="2933700" cy="342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sz="1950">
                <a:solidFill>
                  <a:srgbClr val="96989E"/>
                </a:solidFill>
                <a:latin typeface="Instrument Sans"/>
                <a:ea typeface="Instrument Sans"/>
                <a:cs typeface="Instrument Sans"/>
              </a:rPr>
              <a:t>over 7 years</a:t>
            </a:r>
          </a:p>
        </p:txBody>
      </p:sp>
      <p:sp>
        <p:nvSpPr>
          <p:cNvPr id="15" name="Text 13">
            <a:extLst>
              <a:ext uri="{FF2B5EF4-FFF2-40B4-BE49-F238E27FC236}">
                <ns3:creationId id="{F60E1C5B-73FA-4DC8-8B3E-CE1C62BD7439}"/>
              </a:ext>
            </a:extLst>
          </p:cNvPr>
          <p:cNvSpPr>
            <a:spLocks noGrp="1"/>
          </p:cNvSpPr>
          <p:nvPr/>
        </p:nvSpPr>
        <p:spPr>
          <a:xfrm>
            <a:off x="333375" y="4591050"/>
            <a:ext cx="11525250" cy="4381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sz="2550">
                <a:solidFill>
                  <a:srgbClr val="96989E"/>
                </a:solidFill>
                <a:latin typeface="Instrument Sans"/>
                <a:ea typeface="Instrument Sans"/>
                <a:cs typeface="Instrument Sans"/>
              </a:rPr>
              <a:t>Buying it outright: $20,000</a:t>
            </a:r>
          </a:p>
        </p:txBody>
      </p:sp>
      <p:sp>
        <p:nvSpPr>
          <p:cNvPr id="16" name="Text 14">
            <a:extLst>
              <a:ext uri="{FF2B5EF4-FFF2-40B4-BE49-F238E27FC236}">
                <ns3:creationId id="{BBCD07AA-6B8A-4FB5-8542-85A893FF67D6}"/>
              </a:ext>
            </a:extLst>
          </p:cNvPr>
          <p:cNvSpPr>
            <a:spLocks noGrp="1"/>
          </p:cNvSpPr>
          <p:nvPr/>
        </p:nvSpPr>
        <p:spPr>
          <a:xfrm>
            <a:off x="333375" y="5124450"/>
            <a:ext cx="11525250" cy="4857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sz="2850" b="1">
                <a:solidFill>
                  <a:srgbClr val="F2703C"/>
                </a:solidFill>
                <a:latin typeface="Instrument Sans"/>
                <a:ea typeface="Instrument Sans"/>
                <a:cs typeface="Instrument Sans"/>
              </a:rPr>
              <a:t>You could buy the robot twice.</a:t>
            </a:r>
          </a:p>
        </p:txBody>
      </p:sp>
    </p:spTree>
    <p:extLst>
      <p:ext uri="{BB962C8B-B14F-4D97-AF65-F5344CB8AC3E}">
        <p14:creationId val="1239703654"/>
      </p:ext>
    </p:extLst>
  </p:cSld>
</p:sld>
</file>

<file path=ppt/slides/slide3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31" name=""/>
          <p:cNvPicPr>
            <a:picLocks noChangeAspect="1"/>
          </p:cNvPicPr>
          <p:nvPr/>
        </p:nvPicPr>
        <p:blipFill>
          <a:blip r:embed="R630598430df0474b"/>
          <a:srcRect l="0" t="0" r="0" b="0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ns3:creationId id="{48A8ECA0-93FC-4D89-8491-C6FC06185A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2703C"/>
          </a:solidFill>
        </p:spPr>
      </p:sp>
      <p:sp>
        <p:nvSpPr>
          <p:cNvPr id="3" name="Text 1">
            <a:extLst>
              <a:ext uri="{FF2B5EF4-FFF2-40B4-BE49-F238E27FC236}">
                <ns3:creationId id="{6E9B1BD4-C738-4B9C-A4A1-5095D7FA49E7}"/>
              </a:ext>
            </a:extLst>
          </p:cNvPr>
          <p:cNvSpPr>
            <a:spLocks noGrp="1"/>
          </p:cNvSpPr>
          <p:nvPr/>
        </p:nvSpPr>
        <p:spPr>
          <a:xfrm>
            <a:off x="333375" y="685800"/>
            <a:ext cx="11525250" cy="4762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3450" b="1" spc="-69">
                <a:solidFill>
                  <a:srgbClr val="F2703C"/>
                </a:solidFill>
                <a:latin typeface="Instrument Sans"/>
                <a:ea typeface="Instrument Sans"/>
                <a:cs typeface="Instrument Sans"/>
              </a:rPr>
              <a:t>THE VERDICT</a:t>
            </a:r>
          </a:p>
        </p:txBody>
      </p:sp>
      <p:sp>
        <p:nvSpPr>
          <p:cNvPr id="4" name="Shape 2">
            <a:extLst>
              <a:ext uri="{FF2B5EF4-FFF2-40B4-BE49-F238E27FC236}">
                <ns3:creationId id="{9C71E4AA-AB65-4C3C-8BCA-207E0E09D331}"/>
              </a:ext>
            </a:extLst>
          </p:cNvPr>
          <p:cNvSpPr>
            <a:spLocks noGrp="1"/>
          </p:cNvSpPr>
          <p:nvPr/>
        </p:nvSpPr>
        <p:spPr>
          <a:xfrm>
            <a:off x="857250" y="1657350"/>
            <a:ext cx="10477500" cy="942975"/>
          </a:xfrm>
          <a:prstGeom prst="roundRect">
            <a:avLst>
              <a:gd name="adj" fmla="val 18182"/>
            </a:avLst>
          </a:prstGeom>
          <a:solidFill>
            <a:srgbClr val="1C1F24"/>
          </a:solidFill>
        </p:spPr>
      </p:sp>
      <p:sp>
        <p:nvSpPr>
          <p:cNvPr id="5" name="Text 3">
            <a:extLst>
              <a:ext uri="{FF2B5EF4-FFF2-40B4-BE49-F238E27FC236}">
                <ns3:creationId id="{79735217-CED4-4A66-B807-4B42231D674B}"/>
              </a:ext>
            </a:extLst>
          </p:cNvPr>
          <p:cNvSpPr>
            <a:spLocks noGrp="1"/>
          </p:cNvSpPr>
          <p:nvPr/>
        </p:nvSpPr>
        <p:spPr>
          <a:xfrm>
            <a:off x="1276350" y="1952625"/>
            <a:ext cx="4674438" cy="3905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>
                <a:solidFill>
                  <a:srgbClr val="96989E"/>
                </a:solidFill>
                <a:latin typeface="Instrument Sans"/>
                <a:ea typeface="Instrument Sans"/>
                <a:cs typeface="Instrument Sans"/>
              </a:rPr>
              <a:t>Trying to save money on chores?</a:t>
            </a:r>
          </a:p>
        </p:txBody>
      </p:sp>
      <p:sp>
        <p:nvSpPr>
          <p:cNvPr id="6" name="Text 4">
            <a:extLst>
              <a:ext uri="{FF2B5EF4-FFF2-40B4-BE49-F238E27FC236}">
                <ns3:creationId id="{52E2FCC0-F75A-40C4-9CCF-4B7585A6A9F7}"/>
              </a:ext>
            </a:extLst>
          </p:cNvPr>
          <p:cNvSpPr>
            <a:spLocks noGrp="1"/>
          </p:cNvSpPr>
          <p:nvPr/>
        </p:nvSpPr>
        <p:spPr>
          <a:xfrm>
            <a:off x="9291191" y="1943100"/>
            <a:ext cx="1786905" cy="4095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400" b="1" spc="-24">
                <a:solidFill>
                  <a:srgbClr val="EB5A5A"/>
                </a:solidFill>
                <a:latin typeface="Instrument Sans"/>
                <a:ea typeface="Instrument Sans"/>
                <a:cs typeface="Instrument Sans"/>
              </a:rPr>
              <a:t>DON'T BUY</a:t>
            </a:r>
          </a:p>
        </p:txBody>
      </p:sp>
      <p:sp>
        <p:nvSpPr>
          <p:cNvPr id="7" name="Shape 5">
            <a:extLst>
              <a:ext uri="{FF2B5EF4-FFF2-40B4-BE49-F238E27FC236}">
                <ns3:creationId id="{71F23C48-2EFD-4528-AA23-2CABB591A177}"/>
              </a:ext>
            </a:extLst>
          </p:cNvPr>
          <p:cNvSpPr>
            <a:spLocks noGrp="1"/>
          </p:cNvSpPr>
          <p:nvPr/>
        </p:nvSpPr>
        <p:spPr>
          <a:xfrm>
            <a:off x="857250" y="2809875"/>
            <a:ext cx="10477500" cy="942975"/>
          </a:xfrm>
          <a:prstGeom prst="roundRect">
            <a:avLst>
              <a:gd name="adj" fmla="val 18182"/>
            </a:avLst>
          </a:prstGeom>
          <a:solidFill>
            <a:srgbClr val="1C1F24"/>
          </a:solidFill>
        </p:spPr>
      </p:sp>
      <p:sp>
        <p:nvSpPr>
          <p:cNvPr id="8" name="Text 6">
            <a:extLst>
              <a:ext uri="{FF2B5EF4-FFF2-40B4-BE49-F238E27FC236}">
                <ns3:creationId id="{596CDC55-2D86-4386-8F87-BD3CDFC1A675}"/>
              </a:ext>
            </a:extLst>
          </p:cNvPr>
          <p:cNvSpPr>
            <a:spLocks noGrp="1"/>
          </p:cNvSpPr>
          <p:nvPr/>
        </p:nvSpPr>
        <p:spPr>
          <a:xfrm>
            <a:off x="1276350" y="3105150"/>
            <a:ext cx="4460304" cy="3905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>
                <a:solidFill>
                  <a:srgbClr val="96989E"/>
                </a:solidFill>
                <a:latin typeface="Instrument Sans"/>
                <a:ea typeface="Instrument Sans"/>
                <a:cs typeface="Instrument Sans"/>
              </a:rPr>
              <a:t>Mobility or accessibility needs?</a:t>
            </a:r>
          </a:p>
        </p:txBody>
      </p:sp>
      <p:sp>
        <p:nvSpPr>
          <p:cNvPr id="9" name="Text 7">
            <a:extLst>
              <a:ext uri="{FF2B5EF4-FFF2-40B4-BE49-F238E27FC236}">
                <ns3:creationId id="{A91276AC-57CF-4560-949C-47815103AF64}"/>
              </a:ext>
            </a:extLst>
          </p:cNvPr>
          <p:cNvSpPr>
            <a:spLocks noGrp="1"/>
          </p:cNvSpPr>
          <p:nvPr/>
        </p:nvSpPr>
        <p:spPr>
          <a:xfrm>
            <a:off x="7223968" y="3095625"/>
            <a:ext cx="4060850" cy="4095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400" b="1" spc="-24">
                <a:solidFill>
                  <a:srgbClr val="50C878"/>
                </a:solidFill>
                <a:latin typeface="Instrument Sans"/>
                <a:ea typeface="Instrument Sans"/>
                <a:cs typeface="Instrument Sans"/>
              </a:rPr>
              <a:t>WORTH A SERIOUS LOOK</a:t>
            </a:r>
          </a:p>
        </p:txBody>
      </p:sp>
      <p:sp>
        <p:nvSpPr>
          <p:cNvPr id="10" name="Shape 8">
            <a:extLst>
              <a:ext uri="{FF2B5EF4-FFF2-40B4-BE49-F238E27FC236}">
                <ns3:creationId id="{E35E93BA-7E9B-4C3B-9174-FD27E89716EF}"/>
              </a:ext>
            </a:extLst>
          </p:cNvPr>
          <p:cNvSpPr>
            <a:spLocks noGrp="1"/>
          </p:cNvSpPr>
          <p:nvPr/>
        </p:nvSpPr>
        <p:spPr>
          <a:xfrm>
            <a:off x="857250" y="3962400"/>
            <a:ext cx="10477500" cy="942975"/>
          </a:xfrm>
          <a:prstGeom prst="roundRect">
            <a:avLst>
              <a:gd name="adj" fmla="val 18182"/>
            </a:avLst>
          </a:prstGeom>
          <a:solidFill>
            <a:srgbClr val="1C1F24"/>
          </a:solidFill>
        </p:spPr>
      </p:sp>
      <p:sp>
        <p:nvSpPr>
          <p:cNvPr id="11" name="Text 9">
            <a:extLst>
              <a:ext uri="{FF2B5EF4-FFF2-40B4-BE49-F238E27FC236}">
                <ns3:creationId id="{EB16FE83-E6A4-49E1-B56F-61FCA907EE13}"/>
              </a:ext>
            </a:extLst>
          </p:cNvPr>
          <p:cNvSpPr>
            <a:spLocks noGrp="1"/>
          </p:cNvSpPr>
          <p:nvPr/>
        </p:nvSpPr>
        <p:spPr>
          <a:xfrm>
            <a:off x="1276350" y="4257675"/>
            <a:ext cx="5245298" cy="3905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>
                <a:solidFill>
                  <a:srgbClr val="96989E"/>
                </a:solidFill>
                <a:latin typeface="Instrument Sans"/>
                <a:ea typeface="Instrument Sans"/>
                <a:cs typeface="Instrument Sans"/>
              </a:rPr>
              <a:t>Want to be early — and can afford it?</a:t>
            </a:r>
          </a:p>
        </p:txBody>
      </p:sp>
      <p:sp>
        <p:nvSpPr>
          <p:cNvPr id="12" name="Text 10">
            <a:extLst>
              <a:ext uri="{FF2B5EF4-FFF2-40B4-BE49-F238E27FC236}">
                <ns3:creationId id="{734F1374-C321-41C0-A5DD-ADDCF8581457}"/>
              </a:ext>
            </a:extLst>
          </p:cNvPr>
          <p:cNvSpPr>
            <a:spLocks noGrp="1"/>
          </p:cNvSpPr>
          <p:nvPr/>
        </p:nvSpPr>
        <p:spPr>
          <a:xfrm>
            <a:off x="7498110" y="4248150"/>
            <a:ext cx="3759294" cy="4095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400" b="1" spc="-24">
                <a:solidFill>
                  <a:srgbClr val="E3A94A"/>
                </a:solidFill>
                <a:latin typeface="Instrument Sans"/>
                <a:ea typeface="Instrument Sans"/>
                <a:cs typeface="Instrument Sans"/>
              </a:rPr>
              <a:t>SUBSCRIBE, DON'T BUY</a:t>
            </a:r>
          </a:p>
        </p:txBody>
      </p:sp>
      <p:sp>
        <p:nvSpPr>
          <p:cNvPr id="13" name="Shape 11">
            <a:extLst>
              <a:ext uri="{FF2B5EF4-FFF2-40B4-BE49-F238E27FC236}">
                <ns3:creationId id="{D6CC8CEC-3169-4542-833A-45FB7D7F9AF2}"/>
              </a:ext>
            </a:extLst>
          </p:cNvPr>
          <p:cNvSpPr>
            <a:spLocks noGrp="1"/>
          </p:cNvSpPr>
          <p:nvPr/>
        </p:nvSpPr>
        <p:spPr>
          <a:xfrm>
            <a:off x="857250" y="5114925"/>
            <a:ext cx="10477500" cy="942975"/>
          </a:xfrm>
          <a:prstGeom prst="roundRect">
            <a:avLst>
              <a:gd name="adj" fmla="val 18182"/>
            </a:avLst>
          </a:prstGeom>
          <a:solidFill>
            <a:srgbClr val="1C1F24"/>
          </a:solidFill>
        </p:spPr>
      </p:sp>
      <p:sp>
        <p:nvSpPr>
          <p:cNvPr id="14" name="Text 12">
            <a:extLst>
              <a:ext uri="{FF2B5EF4-FFF2-40B4-BE49-F238E27FC236}">
                <ns3:creationId id="{A7D4DCC6-2538-4096-8D12-ABE0D5E8F014}"/>
              </a:ext>
            </a:extLst>
          </p:cNvPr>
          <p:cNvSpPr>
            <a:spLocks noGrp="1"/>
          </p:cNvSpPr>
          <p:nvPr/>
        </p:nvSpPr>
        <p:spPr>
          <a:xfrm>
            <a:off x="1276350" y="5410200"/>
            <a:ext cx="1997601" cy="3905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>
                <a:solidFill>
                  <a:srgbClr val="96989E"/>
                </a:solidFill>
                <a:latin typeface="Instrument Sans"/>
                <a:ea typeface="Instrument Sans"/>
                <a:cs typeface="Instrument Sans"/>
              </a:rPr>
              <a:t>Everyone else</a:t>
            </a:r>
          </a:p>
        </p:txBody>
      </p:sp>
      <p:sp>
        <p:nvSpPr>
          <p:cNvPr id="15" name="Text 13">
            <a:extLst>
              <a:ext uri="{FF2B5EF4-FFF2-40B4-BE49-F238E27FC236}">
                <ns3:creationId id="{2A6392AF-5A78-49DE-9894-644F5F217A39}"/>
              </a:ext>
            </a:extLst>
          </p:cNvPr>
          <p:cNvSpPr>
            <a:spLocks noGrp="1"/>
          </p:cNvSpPr>
          <p:nvPr/>
        </p:nvSpPr>
        <p:spPr>
          <a:xfrm>
            <a:off x="10126117" y="5400675"/>
            <a:ext cx="865733" cy="4095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400" b="1" spc="-24">
                <a:solidFill>
                  <a:srgbClr val="F0F0EE"/>
                </a:solidFill>
                <a:latin typeface="Instrument Sans"/>
                <a:ea typeface="Instrument Sans"/>
                <a:cs typeface="Instrument Sans"/>
              </a:rPr>
              <a:t>WAIT</a:t>
            </a:r>
          </a:p>
        </p:txBody>
      </p:sp>
    </p:spTree>
    <p:extLst>
      <p:ext uri="{BB962C8B-B14F-4D97-AF65-F5344CB8AC3E}">
        <p14:creationId val="120647589"/>
      </p:ext>
    </p:extLst>
  </p:cSld>
</p:sld>
</file>

<file path=ppt/slides/slide4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41" name=""/>
          <p:cNvPicPr>
            <a:picLocks noChangeAspect="1"/>
          </p:cNvPicPr>
          <p:nvPr/>
        </p:nvPicPr>
        <p:blipFill>
          <a:blip r:embed="R76a14c8881204f15"/>
          <a:srcRect l="0" t="0" r="0" b="0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ns3:creationId id="{13B55336-6C75-4BA2-9FDF-E6A55FF4CD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2703C"/>
          </a:solidFill>
        </p:spPr>
      </p:sp>
      <p:sp>
        <p:nvSpPr>
          <p:cNvPr id="3" name="Text 1">
            <a:extLst>
              <a:ext uri="{FF2B5EF4-FFF2-40B4-BE49-F238E27FC236}">
                <ns3:creationId id="{37817DDB-3E98-4E5C-95EE-C6D510E25038}"/>
              </a:ext>
            </a:extLst>
          </p:cNvPr>
          <p:cNvSpPr>
            <a:spLocks noGrp="1"/>
          </p:cNvSpPr>
          <p:nvPr/>
        </p:nvSpPr>
        <p:spPr>
          <a:xfrm>
            <a:off x="1047750" y="685800"/>
            <a:ext cx="11106150" cy="4762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450" b="1" spc="-69">
                <a:solidFill>
                  <a:srgbClr val="F2703C"/>
                </a:solidFill>
                <a:latin typeface="Instrument Sans"/>
                <a:ea typeface="Instrument Sans"/>
                <a:cs typeface="Instrument Sans"/>
              </a:rPr>
              <a:t>SOURCES</a:t>
            </a:r>
          </a:p>
        </p:txBody>
      </p:sp>
      <p:sp>
        <p:nvSpPr>
          <p:cNvPr id="4" name="Shape 2">
            <a:extLst>
              <a:ext uri="{FF2B5EF4-FFF2-40B4-BE49-F238E27FC236}">
                <ns3:creationId id="{A0D5B9A1-30E3-487C-8BD1-604FFDA9042A}"/>
              </a:ext>
            </a:extLst>
          </p:cNvPr>
          <p:cNvSpPr>
            <a:spLocks noGrp="1"/>
          </p:cNvSpPr>
          <p:nvPr/>
        </p:nvSpPr>
        <p:spPr>
          <a:xfrm>
            <a:off x="1047750" y="2352675"/>
            <a:ext cx="10096500" cy="9525"/>
          </a:xfrm>
          <a:prstGeom prst="rect">
            <a:avLst/>
          </a:prstGeom>
          <a:solidFill>
            <a:srgbClr val="2C2F36"/>
          </a:solidFill>
        </p:spPr>
      </p:sp>
      <p:sp>
        <p:nvSpPr>
          <p:cNvPr id="5" name="Text 3">
            <a:extLst>
              <a:ext uri="{FF2B5EF4-FFF2-40B4-BE49-F238E27FC236}">
                <ns3:creationId id="{DD701898-A585-4D6B-8D62-2511EC7C37D8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552450" cy="342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F270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6" name="Text 4">
            <a:extLst>
              <a:ext uri="{FF2B5EF4-FFF2-40B4-BE49-F238E27FC236}">
                <ns3:creationId id="{442614F0-5511-42EF-8B27-5A954248FD63}"/>
              </a:ext>
            </a:extLst>
          </p:cNvPr>
          <p:cNvSpPr>
            <a:spLocks noGrp="1"/>
          </p:cNvSpPr>
          <p:nvPr/>
        </p:nvSpPr>
        <p:spPr>
          <a:xfrm>
            <a:off x="1771650" y="1790700"/>
            <a:ext cx="5052283" cy="3905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>
                <a:solidFill>
                  <a:srgbClr val="F0F0EE"/>
                </a:solidFill>
                <a:latin typeface="Instrument Sans"/>
                <a:ea typeface="Instrument Sans"/>
                <a:cs typeface="Instrument Sans"/>
              </a:rPr>
              <a:t>1x.tech/neo — pricing &amp; spec pages</a:t>
            </a:r>
          </a:p>
        </p:txBody>
      </p:sp>
      <p:sp>
        <p:nvSpPr>
          <p:cNvPr id="7" name="Text 5">
            <a:extLst>
              <a:ext uri="{FF2B5EF4-FFF2-40B4-BE49-F238E27FC236}">
                <ns3:creationId id="{D67AFDF9-3F13-4043-BFB5-092558BBF67F}"/>
              </a:ext>
            </a:extLst>
          </p:cNvPr>
          <p:cNvSpPr>
            <a:spLocks noGrp="1"/>
          </p:cNvSpPr>
          <p:nvPr/>
        </p:nvSpPr>
        <p:spPr>
          <a:xfrm>
            <a:off x="9886950" y="1847850"/>
            <a:ext cx="1383030" cy="3143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650">
                <a:solidFill>
                  <a:srgbClr val="96989E"/>
                </a:solidFill>
                <a:latin typeface="IBM Plex Mono"/>
                <a:ea typeface="IBM Plex Mono"/>
                <a:cs typeface="IBM Plex Mono"/>
              </a:rPr>
              <a:t>2026-07-09</a:t>
            </a:r>
          </a:p>
        </p:txBody>
      </p:sp>
      <p:sp>
        <p:nvSpPr>
          <p:cNvPr id="8" name="Shape 6">
            <a:extLst>
              <a:ext uri="{FF2B5EF4-FFF2-40B4-BE49-F238E27FC236}">
                <ns3:creationId id="{D102EF95-6A9A-444B-8AA0-6C5FE62E5D53}"/>
              </a:ext>
            </a:extLst>
          </p:cNvPr>
          <p:cNvSpPr>
            <a:spLocks noGrp="1"/>
          </p:cNvSpPr>
          <p:nvPr/>
        </p:nvSpPr>
        <p:spPr>
          <a:xfrm>
            <a:off x="1047750" y="3133725"/>
            <a:ext cx="10096500" cy="9525"/>
          </a:xfrm>
          <a:prstGeom prst="rect">
            <a:avLst/>
          </a:prstGeom>
          <a:solidFill>
            <a:srgbClr val="2C2F36"/>
          </a:solidFill>
        </p:spPr>
      </p:sp>
      <p:sp>
        <p:nvSpPr>
          <p:cNvPr id="9" name="Text 7">
            <a:extLst>
              <a:ext uri="{FF2B5EF4-FFF2-40B4-BE49-F238E27FC236}">
                <ns3:creationId id="{6B0BD9A0-18FF-470D-B62D-266E1AF30E8F}"/>
              </a:ext>
            </a:extLst>
          </p:cNvPr>
          <p:cNvSpPr>
            <a:spLocks noGrp="1"/>
          </p:cNvSpPr>
          <p:nvPr/>
        </p:nvSpPr>
        <p:spPr>
          <a:xfrm>
            <a:off x="1047750" y="2609850"/>
            <a:ext cx="552450" cy="342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F270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Text 8">
            <a:extLst>
              <a:ext uri="{FF2B5EF4-FFF2-40B4-BE49-F238E27FC236}">
                <ns3:creationId id="{1E53177D-204B-4865-AB35-E88B693131C3}"/>
              </a:ext>
            </a:extLst>
          </p:cNvPr>
          <p:cNvSpPr>
            <a:spLocks noGrp="1"/>
          </p:cNvSpPr>
          <p:nvPr/>
        </p:nvSpPr>
        <p:spPr>
          <a:xfrm>
            <a:off x="1771650" y="2571750"/>
            <a:ext cx="6536814" cy="3905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>
                <a:solidFill>
                  <a:srgbClr val="F0F0EE"/>
                </a:solidFill>
                <a:latin typeface="Instrument Sans"/>
                <a:ea typeface="Instrument Sans"/>
                <a:cs typeface="Instrument Sans"/>
              </a:rPr>
              <a:t>Goldman Sachs — humanoid robotics outlook</a:t>
            </a:r>
          </a:p>
        </p:txBody>
      </p:sp>
      <p:sp>
        <p:nvSpPr>
          <p:cNvPr id="11" name="Text 9">
            <a:extLst>
              <a:ext uri="{FF2B5EF4-FFF2-40B4-BE49-F238E27FC236}">
                <ns3:creationId id="{3497DB5F-23B5-4A70-B8D2-2F3FCBA1ABBD}"/>
              </a:ext>
            </a:extLst>
          </p:cNvPr>
          <p:cNvSpPr>
            <a:spLocks noGrp="1"/>
          </p:cNvSpPr>
          <p:nvPr/>
        </p:nvSpPr>
        <p:spPr>
          <a:xfrm>
            <a:off x="10264080" y="2628900"/>
            <a:ext cx="956370" cy="3143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650">
                <a:solidFill>
                  <a:srgbClr val="96989E"/>
                </a:solidFill>
                <a:latin typeface="IBM Plex Mono"/>
                <a:ea typeface="IBM Plex Mono"/>
                <a:cs typeface="IBM Plex Mono"/>
              </a:rPr>
              <a:t>2026-06</a:t>
            </a:r>
          </a:p>
        </p:txBody>
      </p:sp>
      <p:sp>
        <p:nvSpPr>
          <p:cNvPr id="12" name="Shape 10">
            <a:extLst>
              <a:ext uri="{FF2B5EF4-FFF2-40B4-BE49-F238E27FC236}">
                <ns3:creationId id="{14AE25C0-32E3-479C-86EE-7EDB364EFED9}"/>
              </a:ext>
            </a:extLst>
          </p:cNvPr>
          <p:cNvSpPr>
            <a:spLocks noGrp="1"/>
          </p:cNvSpPr>
          <p:nvPr/>
        </p:nvSpPr>
        <p:spPr>
          <a:xfrm>
            <a:off x="1047750" y="3914775"/>
            <a:ext cx="10096500" cy="9525"/>
          </a:xfrm>
          <a:prstGeom prst="rect">
            <a:avLst/>
          </a:prstGeom>
          <a:solidFill>
            <a:srgbClr val="2C2F36"/>
          </a:solidFill>
        </p:spPr>
      </p:sp>
      <p:sp>
        <p:nvSpPr>
          <p:cNvPr id="13" name="Text 11">
            <a:extLst>
              <a:ext uri="{FF2B5EF4-FFF2-40B4-BE49-F238E27FC236}">
                <ns3:creationId id="{278C8FF2-C19B-449D-AAC5-29E2A5D5941D}"/>
              </a:ext>
            </a:extLst>
          </p:cNvPr>
          <p:cNvSpPr>
            <a:spLocks noGrp="1"/>
          </p:cNvSpPr>
          <p:nvPr/>
        </p:nvSpPr>
        <p:spPr>
          <a:xfrm>
            <a:off x="1047750" y="3390900"/>
            <a:ext cx="552450" cy="342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F270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4" name="Text 12">
            <a:extLst>
              <a:ext uri="{FF2B5EF4-FFF2-40B4-BE49-F238E27FC236}">
                <ns3:creationId id="{BA2E7200-42A5-4795-922F-DED8B2E1CB9E}"/>
              </a:ext>
            </a:extLst>
          </p:cNvPr>
          <p:cNvSpPr>
            <a:spLocks noGrp="1"/>
          </p:cNvSpPr>
          <p:nvPr/>
        </p:nvSpPr>
        <p:spPr>
          <a:xfrm>
            <a:off x="1771650" y="3352800"/>
            <a:ext cx="6244099" cy="3905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>
                <a:solidFill>
                  <a:srgbClr val="F0F0EE"/>
                </a:solidFill>
                <a:latin typeface="Instrument Sans"/>
                <a:ea typeface="Instrument Sans"/>
                <a:cs typeface="Instrument Sans"/>
              </a:rPr>
              <a:t>1X press briefing — teleoperation disclosure</a:t>
            </a:r>
          </a:p>
        </p:txBody>
      </p:sp>
      <p:sp>
        <p:nvSpPr>
          <p:cNvPr id="15" name="Text 13">
            <a:extLst>
              <a:ext uri="{FF2B5EF4-FFF2-40B4-BE49-F238E27FC236}">
                <ns3:creationId id="{88A80D3E-EF93-43DB-98E9-C47F4557FD7F}"/>
              </a:ext>
            </a:extLst>
          </p:cNvPr>
          <p:cNvSpPr>
            <a:spLocks noGrp="1"/>
          </p:cNvSpPr>
          <p:nvPr/>
        </p:nvSpPr>
        <p:spPr>
          <a:xfrm>
            <a:off x="10264080" y="3409950"/>
            <a:ext cx="956370" cy="3143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650">
                <a:solidFill>
                  <a:srgbClr val="96989E"/>
                </a:solidFill>
                <a:latin typeface="IBM Plex Mono"/>
                <a:ea typeface="IBM Plex Mono"/>
                <a:cs typeface="IBM Plex Mono"/>
              </a:rPr>
              <a:t>2026-06</a:t>
            </a:r>
          </a:p>
        </p:txBody>
      </p:sp>
      <p:sp>
        <p:nvSpPr>
          <p:cNvPr id="16" name="Shape 14">
            <a:extLst>
              <a:ext uri="{FF2B5EF4-FFF2-40B4-BE49-F238E27FC236}">
                <ns3:creationId id="{2EEBB783-E570-449D-AEF7-34D336F99733}"/>
              </a:ext>
            </a:extLst>
          </p:cNvPr>
          <p:cNvSpPr>
            <a:spLocks noGrp="1"/>
          </p:cNvSpPr>
          <p:nvPr/>
        </p:nvSpPr>
        <p:spPr>
          <a:xfrm>
            <a:off x="1047750" y="4695825"/>
            <a:ext cx="10096500" cy="9525"/>
          </a:xfrm>
          <a:prstGeom prst="rect">
            <a:avLst/>
          </a:prstGeom>
          <a:solidFill>
            <a:srgbClr val="2C2F36"/>
          </a:solidFill>
        </p:spPr>
      </p:sp>
      <p:sp>
        <p:nvSpPr>
          <p:cNvPr id="17" name="Text 15">
            <a:extLst>
              <a:ext uri="{FF2B5EF4-FFF2-40B4-BE49-F238E27FC236}">
                <ns3:creationId id="{1B65AF4E-A3AB-44E7-BB53-4D63126B35C9}"/>
              </a:ext>
            </a:extLst>
          </p:cNvPr>
          <p:cNvSpPr>
            <a:spLocks noGrp="1"/>
          </p:cNvSpPr>
          <p:nvPr/>
        </p:nvSpPr>
        <p:spPr>
          <a:xfrm>
            <a:off x="1047750" y="4171950"/>
            <a:ext cx="552450" cy="3429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F2703C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8" name="Text 16">
            <a:extLst>
              <a:ext uri="{FF2B5EF4-FFF2-40B4-BE49-F238E27FC236}">
                <ns3:creationId id="{12966CB1-79FA-4E3B-BCE6-257BEB3C8107}"/>
              </a:ext>
            </a:extLst>
          </p:cNvPr>
          <p:cNvSpPr>
            <a:spLocks noGrp="1"/>
          </p:cNvSpPr>
          <p:nvPr/>
        </p:nvSpPr>
        <p:spPr>
          <a:xfrm>
            <a:off x="1771650" y="4133850"/>
            <a:ext cx="4450646" cy="3905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2250">
                <a:solidFill>
                  <a:srgbClr val="F0F0EE"/>
                </a:solidFill>
                <a:latin typeface="Instrument Sans"/>
                <a:ea typeface="Instrument Sans"/>
                <a:cs typeface="Instrument Sans"/>
              </a:rPr>
              <a:t>FCC filing — NEO radio module</a:t>
            </a:r>
          </a:p>
        </p:txBody>
      </p:sp>
      <p:sp>
        <p:nvSpPr>
          <p:cNvPr id="19" name="Text 17">
            <a:extLst>
              <a:ext uri="{FF2B5EF4-FFF2-40B4-BE49-F238E27FC236}">
                <ns3:creationId id="{37E93EAA-5B6E-4545-AD24-72D67968F3A7}"/>
              </a:ext>
            </a:extLst>
          </p:cNvPr>
          <p:cNvSpPr>
            <a:spLocks noGrp="1"/>
          </p:cNvSpPr>
          <p:nvPr/>
        </p:nvSpPr>
        <p:spPr>
          <a:xfrm>
            <a:off x="10264080" y="4191000"/>
            <a:ext cx="956370" cy="3143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650">
                <a:solidFill>
                  <a:srgbClr val="96989E"/>
                </a:solidFill>
                <a:latin typeface="IBM Plex Mono"/>
                <a:ea typeface="IBM Plex Mono"/>
                <a:cs typeface="IBM Plex Mono"/>
              </a:rPr>
              <a:t>2026-05</a:t>
            </a:r>
          </a:p>
        </p:txBody>
      </p:sp>
      <p:sp>
        <p:nvSpPr>
          <p:cNvPr id="20" name="Text 18">
            <a:extLst>
              <a:ext uri="{FF2B5EF4-FFF2-40B4-BE49-F238E27FC236}">
                <ns3:creationId id="{87704717-1FD8-40CE-85C2-2D26BA3336F4}"/>
              </a:ext>
            </a:extLst>
          </p:cNvPr>
          <p:cNvSpPr>
            <a:spLocks noGrp="1"/>
          </p:cNvSpPr>
          <p:nvPr/>
        </p:nvSpPr>
        <p:spPr>
          <a:xfrm>
            <a:off x="1047750" y="5124450"/>
            <a:ext cx="11106150" cy="3143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800">
                <a:solidFill>
                  <a:srgbClr val="96989E"/>
                </a:solidFill>
                <a:latin typeface="Instrument Sans"/>
                <a:ea typeface="Instrument Sans"/>
                <a:cs typeface="Instrument Sans"/>
              </a:rPr>
              <a:t>Every claim primary-sourced or hedged. Facts verified within two weeks of upload.</a:t>
            </a:r>
          </a:p>
        </p:txBody>
      </p:sp>
    </p:spTree>
    <p:extLst>
      <p:ext uri="{BB962C8B-B14F-4D97-AF65-F5344CB8AC3E}">
        <p14:creationId val="113803880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2026-07-10T03:15:20.2910000Z</dcterms:created>
  <dcterms:modified xsi:type="dcterms:W3CDTF">2026-07-10T03:15:20.2910000Z</dcterms:modified>
</coreProperties>
</file>